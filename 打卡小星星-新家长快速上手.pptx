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9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60000" y="1944000"/>
            <a:ext cx="97200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6000" b="1">
                <a:solidFill>
                  <a:srgbClr val="FFFFFF"/>
                </a:solidFill>
                <a:latin typeface="微软雅黑"/>
                <a:latin typeface="微软雅黑"/>
                <a:ea typeface="微软雅黑"/>
                <a:cs typeface="微软雅黑"/>
              </a:rPr>
              <a:t>打卡小星星</a:t>
            </a:r>
          </a:p>
          <a:p>
            <a:pPr algn="l">
              <a:lnSpc>
                <a:spcPct val="125000"/>
              </a:lnSpc>
              <a:spcBef>
                <a:spcPts val="1800"/>
              </a:spcBef>
            </a:pPr>
            <a:r>
              <a:rPr sz="2400" b="0">
                <a:solidFill>
                  <a:srgbClr val="FFFFFF"/>
                </a:solidFill>
                <a:latin typeface="微软雅黑"/>
                <a:latin typeface="微软雅黑"/>
                <a:ea typeface="微软雅黑"/>
                <a:cs typeface="微软雅黑"/>
              </a:rPr>
              <a:t>一年级孩子的学习打卡 + 奖励系统</a:t>
            </a:r>
          </a:p>
          <a:p>
            <a:pPr algn="l">
              <a:lnSpc>
                <a:spcPct val="125000"/>
              </a:lnSpc>
              <a:spcBef>
                <a:spcPts val="2600"/>
              </a:spcBef>
            </a:pPr>
            <a:r>
              <a:rPr sz="1700" b="0">
                <a:solidFill>
                  <a:srgbClr val="E0ECFF"/>
                </a:solidFill>
                <a:latin typeface="微软雅黑"/>
                <a:latin typeface="微软雅黑"/>
                <a:ea typeface="微软雅黑"/>
                <a:cs typeface="微软雅黑"/>
              </a:rPr>
              <a:t>新家长快速上手（约 10 分钟看完）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260000" y="4752000"/>
            <a:ext cx="3311999" cy="540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拿到邀请码之后从这里开始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396000"/>
            <a:ext cx="540000" cy="540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396000"/>
            <a:ext cx="936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0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它解决的是什么事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把「今天作业写了吗」从每天的拉锯，变成孩子自己看得见的进度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62000"/>
            <a:ext cx="10620000" cy="28800"/>
          </a:xfrm>
          <a:prstGeom prst="rect">
            <a:avLst/>
          </a:prstGeom>
          <a:solidFill>
            <a:srgbClr val="10101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2664000" cy="1512000"/>
          </a:xfrm>
          <a:prstGeom prst="rect">
            <a:avLst/>
          </a:prstGeom>
          <a:solidFill>
            <a:srgbClr val="00A8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微软雅黑"/>
                <a:latin typeface="微软雅黑"/>
                <a:ea typeface="微软雅黑"/>
                <a:cs typeface="微软雅黑"/>
              </a:rPr>
              <a:t>完成任务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微软雅黑"/>
                <a:latin typeface="微软雅黑"/>
                <a:ea typeface="微软雅黑"/>
                <a:cs typeface="微软雅黑"/>
              </a:rPr>
              <a:t>读书、练字、
跳绳……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64000" y="2286000"/>
            <a:ext cx="612000" cy="306000"/>
          </a:xfrm>
          <a:prstGeom prst="rightArrow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76000" y="1655999"/>
            <a:ext cx="2664000" cy="1512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1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赚到阳光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每项任务
对应多少阳光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48000" y="2286000"/>
            <a:ext cx="612000" cy="306000"/>
          </a:xfrm>
          <a:prstGeom prst="rightArrow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0" y="1655999"/>
            <a:ext cx="2664000" cy="1512000"/>
          </a:xfrm>
          <a:prstGeom prst="rect">
            <a:avLst/>
          </a:prstGeom>
          <a:solidFill>
            <a:srgbClr val="FF8CA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1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换成奖励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3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你和孩子
一起定的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3600000"/>
            <a:ext cx="10584000" cy="827999"/>
          </a:xfrm>
          <a:prstGeom prst="rect">
            <a:avLst/>
          </a:prstGeom>
          <a:solidFill>
            <a:srgbClr val="FFF7E0"/>
          </a:solidFill>
          <a:ln w="25400">
            <a:solidFill>
              <a:srgbClr val="A85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剩下的阳光还能投进一条收集线（宝可梦图鉴 / 种花园）——这条线不花你的钱，但孩子会为了它主动去做任务。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4680000"/>
            <a:ext cx="10584000" cy="133199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5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重要  </a:t>
            </a: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奖励清单是你和孩子商量出来的，不是系统给的。系统只负责记账和兑现。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不重要  </a:t>
            </a: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阳光不是钱。它只在你们家这套约定里有意义，随时可以一起改。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20000"/>
            <a:ext cx="106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打卡小星星 · 新家长快速上手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396000"/>
            <a:ext cx="540000" cy="540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396000"/>
            <a:ext cx="936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0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注册账号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邀请码一次性，用掉就失效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62000"/>
            <a:ext cx="10620000" cy="28800"/>
          </a:xfrm>
          <a:prstGeom prst="rect">
            <a:avLst/>
          </a:prstGeom>
          <a:solidFill>
            <a:srgbClr val="10101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2484000" cy="1655999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2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1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打开注册页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邀请人发给你的链接，
形如  你的域名/signup</a:t>
            </a:r>
          </a:p>
        </p:txBody>
      </p:sp>
      <p:sp>
        <p:nvSpPr>
          <p:cNvPr id="6" name="Rectangle 5"/>
          <p:cNvSpPr/>
          <p:nvPr/>
        </p:nvSpPr>
        <p:spPr>
          <a:xfrm>
            <a:off x="3491999" y="1655999"/>
            <a:ext cx="2484000" cy="1655999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2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2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填邀请码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形如 K7QM-3XPT-9WRD
只能用一次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0" y="1655999"/>
            <a:ext cx="2484000" cy="1655999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2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3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填邮箱 + 密码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密码至少 8 位。
这就是你以后的登录账号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2000" y="1655999"/>
            <a:ext cx="2484000" cy="1655999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2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4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建孩子档案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填名字就行。
后台其它页面才有内容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671999"/>
            <a:ext cx="10584000" cy="720000"/>
          </a:xfrm>
          <a:prstGeom prst="rect">
            <a:avLst/>
          </a:prstGeom>
          <a:solidFill>
            <a:srgbClr val="FFF7E0"/>
          </a:solidFill>
          <a:ln w="31750">
            <a:solidFill>
              <a:srgbClr val="E4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6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⚠️  系统跑在邀请人的服务器上，技术上他能看到你家的数据。介意的话先跟他说。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4644000"/>
            <a:ext cx="10584000" cy="136799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5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没有可用的邀请码时  </a:t>
            </a: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注册页会自动关闭，直接跳回登录页——不是坏了，是邀请人还没生成码。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每个账号相互独立  </a:t>
            </a: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你看不到别人家的孩子，别人也看不到你的。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120000"/>
            <a:ext cx="106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打卡小星星 · 新家长快速上手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396000"/>
            <a:ext cx="540000" cy="540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396000"/>
            <a:ext cx="936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0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选一个玩法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注册时就要选，之后也能在「孩子档案」里改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62000"/>
            <a:ext cx="10620000" cy="28800"/>
          </a:xfrm>
          <a:prstGeom prst="rect">
            <a:avLst/>
          </a:prstGeom>
          <a:solidFill>
            <a:srgbClr val="10101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000" y="1584000"/>
            <a:ext cx="5112000" cy="3024000"/>
          </a:xfrm>
          <a:prstGeom prst="rect">
            <a:avLst/>
          </a:prstGeom>
          <a:solidFill>
            <a:srgbClr val="FFFFFF"/>
          </a:solidFill>
          <a:ln w="44450">
            <a:solidFill>
              <a:srgbClr val="0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00A800"/>
                </a:solidFill>
                <a:latin typeface="微软雅黑"/>
                <a:latin typeface="微软雅黑"/>
                <a:ea typeface="微软雅黑"/>
                <a:cs typeface="微软雅黑"/>
              </a:rPr>
              <a:t>宝可梦图鉴</a:t>
            </a:r>
          </a:p>
        </p:txBody>
      </p:sp>
      <p:sp>
        <p:nvSpPr>
          <p:cNvPr id="6" name="Rectangle 5"/>
          <p:cNvSpPr/>
          <p:nvPr/>
        </p:nvSpPr>
        <p:spPr>
          <a:xfrm>
            <a:off x="4788000" y="1440000"/>
            <a:ext cx="864000" cy="360000"/>
          </a:xfrm>
          <a:prstGeom prst="rect">
            <a:avLst/>
          </a:prstGeom>
          <a:solidFill>
            <a:srgbClr val="00A8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微软雅黑"/>
                <a:latin typeface="微软雅黑"/>
                <a:ea typeface="微软雅黑"/>
                <a:cs typeface="微软雅黑"/>
              </a:rPr>
              <a:t>推荐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592000"/>
            <a:ext cx="4536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· 用阳光买精灵球，去抓每天遇到的宝可梦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· 一共 386 只，按打卡等级一批批解锁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· 抓到的永久留在牌库，点进去能看进化路线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· 收藏一直往上累积，不会清零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内容够玩好几年。孩子看得到长期目标。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584000"/>
            <a:ext cx="5112000" cy="3024000"/>
          </a:xfrm>
          <a:prstGeom prst="rect">
            <a:avLst/>
          </a:prstGeom>
          <a:solidFill>
            <a:srgbClr val="FFFFFF"/>
          </a:solidFill>
          <a:ln w="44450">
            <a:solidFill>
              <a:srgbClr val="A85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A85200"/>
                </a:solidFill>
                <a:latin typeface="微软雅黑"/>
                <a:latin typeface="微软雅黑"/>
                <a:ea typeface="微软雅黑"/>
                <a:cs typeface="微软雅黑"/>
              </a:rPr>
              <a:t>种花园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2000" y="2592000"/>
            <a:ext cx="4536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· 用阳光买种子，种满一园集齐一套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· 收获能拿回阳光，养得越久利息越高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· 但每收获一次，花园就清空重来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4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· 植物种类按等级解锁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周期短、反馈快，但没有长期收藏感。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4896000"/>
            <a:ext cx="10584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两个玩法互斥，一次只能开一个——同时开的话阳光会被稀释，两条线都推不动。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120000"/>
            <a:ext cx="106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打卡小星星 · 新家长快速上手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396000"/>
            <a:ext cx="540000" cy="540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396000"/>
            <a:ext cx="936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0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家长端和孩子端，是同一个账号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这一页是最容易搞混的，值得多看两眼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62000"/>
            <a:ext cx="10620000" cy="28800"/>
          </a:xfrm>
          <a:prstGeom prst="rect">
            <a:avLst/>
          </a:prstGeom>
          <a:solidFill>
            <a:srgbClr val="10101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000" y="1584000"/>
            <a:ext cx="4896000" cy="2592000"/>
          </a:xfrm>
          <a:prstGeom prst="rect">
            <a:avLst/>
          </a:prstGeom>
          <a:solidFill>
            <a:srgbClr val="FFFFFF"/>
          </a:solidFill>
          <a:ln w="44450">
            <a:solidFill>
              <a:srgbClr val="5C9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000" b="1">
                <a:solidFill>
                  <a:srgbClr val="5C94FC"/>
                </a:solidFill>
                <a:latin typeface="微软雅黑"/>
                <a:latin typeface="微软雅黑"/>
                <a:ea typeface="微软雅黑"/>
                <a:cs typeface="微软雅黑"/>
              </a:rPr>
              <a:t>你自己的手机 / 电脑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376000"/>
            <a:ext cx="432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登录时  ☐ 不勾「这是孩子的设备」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→ 进家长后台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批任务、管奖励、加临时任务、看统计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3999" y="1584000"/>
            <a:ext cx="4896000" cy="2592000"/>
          </a:xfrm>
          <a:prstGeom prst="rect">
            <a:avLst/>
          </a:prstGeom>
          <a:solidFill>
            <a:srgbClr val="FFFFFF"/>
          </a:solidFill>
          <a:ln w="44450">
            <a:solidFill>
              <a:srgbClr val="00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000" b="1">
                <a:solidFill>
                  <a:srgbClr val="00A800"/>
                </a:solidFill>
                <a:latin typeface="微软雅黑"/>
                <a:latin typeface="微软雅黑"/>
                <a:ea typeface="微软雅黑"/>
                <a:cs typeface="微软雅黑"/>
              </a:rPr>
              <a:t>孩子的平板 / 学习机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2000" y="2376000"/>
            <a:ext cx="432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登录时  ☑ 勾上「这是孩子的设备」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→ 锁在孩子端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他点不进后台，改不了自己的分数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4464000"/>
            <a:ext cx="10548000" cy="936000"/>
          </a:xfrm>
          <a:prstGeom prst="rect">
            <a:avLst/>
          </a:prstGeom>
          <a:solidFill>
            <a:srgbClr val="FFF7E0"/>
          </a:solidFill>
          <a:ln w="31750">
            <a:solidFill>
              <a:srgbClr val="A85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600" b="1">
                <a:solidFill>
                  <a:srgbClr val="A85200"/>
                </a:solidFill>
                <a:latin typeface="微软雅黑"/>
                <a:latin typeface="微软雅黑"/>
                <a:ea typeface="微软雅黑"/>
                <a:cs typeface="微软雅黑"/>
              </a:rPr>
              <a:t>在孩子平板上要进后台怎么办？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点孩子端最下面那行很小的「家长登录 →」，重新登录一次（这次别勾）。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6120000"/>
            <a:ext cx="106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打卡小星星 · 新家长快速上手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396000"/>
            <a:ext cx="540000" cy="540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396000"/>
            <a:ext cx="936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0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设孩子的每日任务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后台 →「任务模板」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62000"/>
            <a:ext cx="10620000" cy="28800"/>
          </a:xfrm>
          <a:prstGeom prst="rect">
            <a:avLst/>
          </a:prstGeom>
          <a:solidFill>
            <a:srgbClr val="10101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584000"/>
            <a:ext cx="5760000" cy="4428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5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先做这个  </a:t>
            </a: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把示例任务停用，换成孩子真实的每日任务。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每项填分值  </a:t>
            </a: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比如「读书 20 分钟 = 10 阳光」。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三种排期  </a:t>
            </a: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「按星期几」自己勾；「上学日」和「休息日」跟着国家放假安排走，含调休补课的周末。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每天达标线  </a:t>
            </a:r>
            <a:r>
              <a:rPr sz="15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当天挣够这个数算达标；一个月达标够多，月底自动发满勤奖。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0" y="1584000"/>
            <a:ext cx="4536000" cy="2951999"/>
          </a:xfrm>
          <a:prstGeom prst="rect">
            <a:avLst/>
          </a:prstGeom>
          <a:solidFill>
            <a:srgbClr val="FFF7E0"/>
          </a:solidFill>
          <a:ln w="38100">
            <a:solidFill>
              <a:srgbClr val="E4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9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⚠️ 加任务 = 全场打折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8000" y="2304000"/>
            <a:ext cx="396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所有价格最初都是照着「每天能挣多少」定的。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你加一门课，孩子日薪就变高，而礼物和精灵球的价格不会自己跟上——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原来要攒 20 天的玩具，可能变成 13 天。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3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后台「经济体检」页会把这件事摊开，并给一个带预览的「一键校准」。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1">
                <a:solidFill>
                  <a:srgbClr val="00A800"/>
                </a:solidFill>
                <a:latin typeface="微软雅黑"/>
                <a:latin typeface="微软雅黑"/>
                <a:ea typeface="微软雅黑"/>
                <a:cs typeface="微软雅黑"/>
              </a:rPr>
              <a:t>改不改由你决定。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4824000"/>
            <a:ext cx="576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系统自动发的那些（满勤奖、图鉴奖励、刷新费）会自己跟着日薪走，不用管。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120000"/>
            <a:ext cx="106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打卡小星星 · 新家长快速上手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396000"/>
            <a:ext cx="540000" cy="540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396000"/>
            <a:ext cx="936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0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设奖励清单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后台 →「礼物」。这一步建议和孩子一起做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62000"/>
            <a:ext cx="10620000" cy="28800"/>
          </a:xfrm>
          <a:prstGeom prst="rect">
            <a:avLst/>
          </a:prstGeom>
          <a:solidFill>
            <a:srgbClr val="10101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296000"/>
            <a:ext cx="1058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价格别照抄别人家的——系统按「几天工资」判断贵不贵，而每家孩子的日薪不一样。下面是四档参考区间：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000" y="1800000"/>
            <a:ext cx="360000" cy="756000"/>
          </a:xfrm>
          <a:prstGeom prst="rect">
            <a:avLst/>
          </a:prstGeom>
          <a:solidFill>
            <a:srgbClr val="00A800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000" y="1800000"/>
            <a:ext cx="10224000" cy="75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1890000"/>
            <a:ext cx="964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日常小奖励　·　冷却 ≤ 1 天　·　0.4 ~ 1.2 天工资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例如：看半小时动画片、今晚吃什么我说了算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646000"/>
            <a:ext cx="360000" cy="756000"/>
          </a:xfrm>
          <a:prstGeom prst="rect">
            <a:avLst/>
          </a:prstGeom>
          <a:solidFill>
            <a:srgbClr val="FBD000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2000" y="2646000"/>
            <a:ext cx="10224000" cy="75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2736000"/>
            <a:ext cx="964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周奖励　·　冷却 2 ~ 7 天　·　1.2 ~ 7 天工资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例如：买一本新书、周末去趟游乐场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491999"/>
            <a:ext cx="360000" cy="756000"/>
          </a:xfrm>
          <a:prstGeom prst="rect">
            <a:avLst/>
          </a:prstGeom>
          <a:solidFill>
            <a:srgbClr val="FF8CA0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2000" y="3491999"/>
            <a:ext cx="10224000" cy="75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0000" y="3581999"/>
            <a:ext cx="964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半月奖励　·　冷却 8 ~ 14 天　·　3 ~ 8 天工资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例如：一个小玩具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4338000"/>
            <a:ext cx="360000" cy="756000"/>
          </a:xfrm>
          <a:prstGeom prst="rect">
            <a:avLst/>
          </a:prstGeom>
          <a:solidFill>
            <a:srgbClr val="A85200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2000" y="4338000"/>
            <a:ext cx="10224000" cy="75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0000" y="4428000"/>
            <a:ext cx="964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攒很久的大奖励　·　冷却 ≥ 15 天　·　14 ~ 28 天工资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例如：一套乐高、去一次迪士尼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0" y="5256000"/>
            <a:ext cx="10584000" cy="936000"/>
          </a:xfrm>
          <a:prstGeom prst="rect">
            <a:avLst/>
          </a:prstGeom>
          <a:solidFill>
            <a:srgbClr val="FFF7E0"/>
          </a:solidFill>
          <a:ln w="31750">
            <a:solidFill>
              <a:srgbClr val="E4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6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档位是从冷却天数推出来的，所以贵礼物一定要设冷却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不设冷却的话，系统没法判断这是「日常小奖励」还是「你忘了设冷却的大奖」，体检时会直接跳过它；孩子那边也可能把阳光全砸在同一件事上。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" y="6120000"/>
            <a:ext cx="106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打卡小星星 · 新家长快速上手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396000"/>
            <a:ext cx="540000" cy="540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396000"/>
            <a:ext cx="936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0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把孩子端交给孩子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后台 →「孩子档案」，那里有一条完整链接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62000"/>
            <a:ext cx="10620000" cy="28800"/>
          </a:xfrm>
          <a:prstGeom prst="rect">
            <a:avLst/>
          </a:prstGeom>
          <a:solidFill>
            <a:srgbClr val="10101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000" y="1620000"/>
            <a:ext cx="3420000" cy="1584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0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1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复制链接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「孩子档案」里每个孩子
下面就是完整地址，
点一下能直接打开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8000" y="1620000"/>
            <a:ext cx="3420000" cy="1584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0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2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在孩子设备上打开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登录时勾上
「这是孩子的设备」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3999" y="1620000"/>
            <a:ext cx="3420000" cy="1584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0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3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加到主屏幕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2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用浏览器的
「添加到主屏幕」，
之后点图标就进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3528000"/>
            <a:ext cx="10584000" cy="1080000"/>
          </a:xfrm>
          <a:prstGeom prst="rect">
            <a:avLst/>
          </a:prstGeom>
          <a:solidFill>
            <a:srgbClr val="FFF7E0"/>
          </a:solidFill>
          <a:ln w="31750">
            <a:solidFill>
              <a:srgbClr val="E4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7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孩子需要知道的一条规则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4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任务没全部完成的日子，会跑掉一只已经抓到的宝可梦（花园主题则是被吃掉一棵植物）。当天只要抓到过宝可梦就免疫。不开 App 也躲不掉——第二天打开会一次性补算。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4824000"/>
            <a:ext cx="10584000" cy="118799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4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孩子端每页一屏装得下  </a:t>
            </a:r>
            <a:r>
              <a:rPr sz="14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平板和手机都适配过，不用滚动，字号是按认字阶段调的，全部带拼音。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b="1">
                <a:solidFill>
                  <a:srgbClr val="E4000F"/>
                </a:solidFill>
                <a:latin typeface="微软雅黑"/>
                <a:latin typeface="微软雅黑"/>
                <a:ea typeface="微软雅黑"/>
                <a:cs typeface="微软雅黑"/>
              </a:rPr>
              <a:t>家长也能用手机替他打卡  </a:t>
            </a:r>
            <a:r>
              <a:rPr sz="1400" b="0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手机上打开孩子端，任务列表占满整屏。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6120000"/>
            <a:ext cx="106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打卡小星星 · 新家长快速上手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00" y="396000"/>
            <a:ext cx="540000" cy="540000"/>
          </a:xfrm>
          <a:prstGeom prst="rect">
            <a:avLst/>
          </a:prstGeom>
          <a:solidFill>
            <a:srgbClr val="FBD000"/>
          </a:solidFill>
          <a:ln w="317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0000" y="396000"/>
            <a:ext cx="936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30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几个大概率会问到的问题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00" y="1062000"/>
            <a:ext cx="10620000" cy="28800"/>
          </a:xfrm>
          <a:prstGeom prst="rect">
            <a:avLst/>
          </a:prstGeom>
          <a:solidFill>
            <a:srgbClr val="101010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2000" y="1548000"/>
            <a:ext cx="10584000" cy="702000"/>
          </a:xfrm>
          <a:prstGeom prst="rect">
            <a:avLst/>
          </a:prstGeom>
          <a:solidFill>
            <a:srgbClr val="F1F5F9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648800"/>
            <a:ext cx="1008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批错了怎么办？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后台「打卡记录」里可以撤销，阳光会扣回去，流水上留一条记录。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2286000"/>
            <a:ext cx="10584000" cy="702000"/>
          </a:xfrm>
          <a:prstGeom prst="rect">
            <a:avLst/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000" y="2386800"/>
            <a:ext cx="1008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孩子今天额外做了事？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后台加一条「临时任务」，比直接手动加分好——手动加分不算进等级。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023999"/>
            <a:ext cx="10584000" cy="702000"/>
          </a:xfrm>
          <a:prstGeom prst="rect">
            <a:avLst/>
          </a:prstGeom>
          <a:solidFill>
            <a:srgbClr val="F1F5F9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" y="3124799"/>
            <a:ext cx="1008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等级有什么用？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共 15 级，按累计挣到的阳光升。等级解锁宝可梦的数量和地区、花园的植物种类。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3761999"/>
            <a:ext cx="10584000" cy="702000"/>
          </a:xfrm>
          <a:prstGeom prst="rect">
            <a:avLst/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4000" y="3862799"/>
            <a:ext cx="1008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阳光会不会通货膨胀？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会。所以有「经济体检」——它按当前日薪算出每样东西值几天工资，越界的标出来。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500000"/>
            <a:ext cx="10584000" cy="702000"/>
          </a:xfrm>
          <a:prstGeom prst="rect">
            <a:avLst/>
          </a:prstGeom>
          <a:solidFill>
            <a:srgbClr val="F1F5F9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000" y="4600800"/>
            <a:ext cx="1008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孩子能自己改分数吗？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不能。勾了「这是孩子的设备」的会话进不了后台。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5238000"/>
            <a:ext cx="10584000" cy="702000"/>
          </a:xfrm>
          <a:prstGeom prst="rect">
            <a:avLst/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" y="5338800"/>
            <a:ext cx="1008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101010"/>
                </a:solidFill>
                <a:latin typeface="微软雅黑"/>
                <a:latin typeface="微软雅黑"/>
                <a:ea typeface="微软雅黑"/>
                <a:cs typeface="微软雅黑"/>
              </a:rPr>
              <a:t>能几个孩子一起用吗？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可以，后台顶栏切换。数据各自独立。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6120000"/>
            <a:ext cx="106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64748B"/>
                </a:solidFill>
                <a:latin typeface="微软雅黑"/>
                <a:latin typeface="微软雅黑"/>
                <a:ea typeface="微软雅黑"/>
                <a:cs typeface="微软雅黑"/>
              </a:rPr>
              <a:t>打卡小星星 · 新家长快速上手　|　有问题直接问邀请你的那位家长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